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  <p:sldMasterId id="2147483654" r:id="rId4"/>
    <p:sldMasterId id="2147483673" r:id="rId5"/>
  </p:sldMasterIdLst>
  <p:notesMasterIdLst>
    <p:notesMasterId r:id="rId9"/>
  </p:notesMasterIdLst>
  <p:sldIdLst>
    <p:sldId id="582" r:id="rId6"/>
    <p:sldId id="583" r:id="rId7"/>
    <p:sldId id="584" r:id="rId8"/>
    <p:sldId id="585" r:id="rId10"/>
    <p:sldId id="586" r:id="rId11"/>
    <p:sldId id="595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63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3327" autoAdjust="0"/>
  </p:normalViewPr>
  <p:slideViewPr>
    <p:cSldViewPr snapToGrid="0" snapToObjects="1" showGuides="1">
      <p:cViewPr varScale="1">
        <p:scale>
          <a:sx n="113" d="100"/>
          <a:sy n="113" d="100"/>
        </p:scale>
        <p:origin x="696" y="86"/>
      </p:cViewPr>
      <p:guideLst>
        <p:guide orient="horz" pos="2155"/>
        <p:guide pos="6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313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40A07-CB81-B94E-8486-6299C881C60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EFDB2-DEE3-F041-A376-A8AE77F3A62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1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image" Target="file:///C:\Users\1V994W2\PycharmProjects\PPT_Background_Generation/pic_temp/pic_half_down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23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2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31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41.xml"/><Relationship Id="rId4" Type="http://schemas.openxmlformats.org/officeDocument/2006/relationships/image" Target="file:///C:\Users\1V994W2\Documents\Tencent%20Files\574576071\FileRecv\&#25340;&#35013;&#32032;&#26448;\&#31616;&#32422;&#28385;&#29256;-60\\33\subject_holdleft_48,76,63_0_staid_full_0.png" TargetMode="External"/><Relationship Id="rId3" Type="http://schemas.openxmlformats.org/officeDocument/2006/relationships/image" Target="../media/image7.png"/><Relationship Id="rId2" Type="http://schemas.openxmlformats.org/officeDocument/2006/relationships/tags" Target="../tags/tag40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50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49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58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57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65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4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8.png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77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76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5.png"/><Relationship Id="rId6" Type="http://schemas.openxmlformats.org/officeDocument/2006/relationships/tags" Target="../tags/tag84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5.png"/><Relationship Id="rId6" Type="http://schemas.openxmlformats.org/officeDocument/2006/relationships/tags" Target="../tags/tag100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5.png"/><Relationship Id="rId6" Type="http://schemas.openxmlformats.org/officeDocument/2006/relationships/tags" Target="../tags/tag109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5.png"/><Relationship Id="rId6" Type="http://schemas.openxmlformats.org/officeDocument/2006/relationships/tags" Target="../tags/tag118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129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image" Target="../media/image3.png"/><Relationship Id="rId2" Type="http://schemas.openxmlformats.org/officeDocument/2006/relationships/tags" Target="../tags/tag141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51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0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image" Target="file:///C:\Users\1V994W2\PycharmProjects\PPT_Background_Generation/pic_temp/pic_half_down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57.xml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63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62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71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0.xml"/><Relationship Id="rId15" Type="http://schemas.openxmlformats.org/officeDocument/2006/relationships/tags" Target="../tags/tag179.xml"/><Relationship Id="rId14" Type="http://schemas.openxmlformats.org/officeDocument/2006/relationships/tags" Target="../tags/tag178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81.xml"/><Relationship Id="rId4" Type="http://schemas.openxmlformats.org/officeDocument/2006/relationships/image" Target="file:///C:\Users\1V994W2\Documents\Tencent%20Files\574576071\FileRecv\&#25340;&#35013;&#32032;&#26448;\&#31616;&#32422;&#28385;&#29256;-60\\33\subject_holdleft_48,76,63_0_staid_full_0.png" TargetMode="External"/><Relationship Id="rId3" Type="http://schemas.openxmlformats.org/officeDocument/2006/relationships/image" Target="../media/image7.png"/><Relationship Id="rId2" Type="http://schemas.openxmlformats.org/officeDocument/2006/relationships/tags" Target="../tags/tag180.xml"/><Relationship Id="rId11" Type="http://schemas.openxmlformats.org/officeDocument/2006/relationships/tags" Target="../tags/tag185.xml"/><Relationship Id="rId10" Type="http://schemas.openxmlformats.org/officeDocument/2006/relationships/tags" Target="../tags/tag184.xml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90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89.xml"/><Relationship Id="rId13" Type="http://schemas.openxmlformats.org/officeDocument/2006/relationships/tags" Target="../tags/tag196.xml"/><Relationship Id="rId12" Type="http://schemas.openxmlformats.org/officeDocument/2006/relationships/tags" Target="../tags/tag195.xml"/><Relationship Id="rId11" Type="http://schemas.openxmlformats.org/officeDocument/2006/relationships/tags" Target="../tags/tag194.xml"/><Relationship Id="rId10" Type="http://schemas.openxmlformats.org/officeDocument/2006/relationships/tags" Target="../tags/tag193.xml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98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97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205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4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8.png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217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6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5.png"/><Relationship Id="rId6" Type="http://schemas.openxmlformats.org/officeDocument/2006/relationships/tags" Target="../tags/tag224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3" Type="http://schemas.openxmlformats.org/officeDocument/2006/relationships/tags" Target="../tags/tag229.xml"/><Relationship Id="rId12" Type="http://schemas.openxmlformats.org/officeDocument/2006/relationships/tags" Target="../tags/tag228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41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5.png"/><Relationship Id="rId6" Type="http://schemas.openxmlformats.org/officeDocument/2006/relationships/tags" Target="../tags/tag240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4" Type="http://schemas.openxmlformats.org/officeDocument/2006/relationships/tags" Target="../tags/tag246.xml"/><Relationship Id="rId13" Type="http://schemas.openxmlformats.org/officeDocument/2006/relationships/tags" Target="../tags/tag245.xml"/><Relationship Id="rId12" Type="http://schemas.openxmlformats.org/officeDocument/2006/relationships/tags" Target="../tags/tag244.xml"/><Relationship Id="rId11" Type="http://schemas.openxmlformats.org/officeDocument/2006/relationships/tags" Target="../tags/tag243.xml"/><Relationship Id="rId10" Type="http://schemas.openxmlformats.org/officeDocument/2006/relationships/tags" Target="../tags/tag242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5.png"/><Relationship Id="rId6" Type="http://schemas.openxmlformats.org/officeDocument/2006/relationships/tags" Target="../tags/tag249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5.png"/><Relationship Id="rId6" Type="http://schemas.openxmlformats.org/officeDocument/2006/relationships/tags" Target="../tags/tag258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6" Type="http://schemas.openxmlformats.org/officeDocument/2006/relationships/tags" Target="../tags/tag266.xml"/><Relationship Id="rId15" Type="http://schemas.openxmlformats.org/officeDocument/2006/relationships/tags" Target="../tags/tag265.xml"/><Relationship Id="rId14" Type="http://schemas.openxmlformats.org/officeDocument/2006/relationships/tags" Target="../tags/tag264.xml"/><Relationship Id="rId13" Type="http://schemas.openxmlformats.org/officeDocument/2006/relationships/tags" Target="../tags/tag263.xml"/><Relationship Id="rId12" Type="http://schemas.openxmlformats.org/officeDocument/2006/relationships/tags" Target="../tags/tag262.xml"/><Relationship Id="rId11" Type="http://schemas.openxmlformats.org/officeDocument/2006/relationships/tags" Target="../tags/tag261.xml"/><Relationship Id="rId10" Type="http://schemas.openxmlformats.org/officeDocument/2006/relationships/tags" Target="../tags/tag260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70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269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3" Type="http://schemas.openxmlformats.org/officeDocument/2006/relationships/tags" Target="../tags/tag274.xml"/><Relationship Id="rId12" Type="http://schemas.openxmlformats.org/officeDocument/2006/relationships/tags" Target="../tags/tag273.xml"/><Relationship Id="rId11" Type="http://schemas.openxmlformats.org/officeDocument/2006/relationships/tags" Target="../tags/tag272.xml"/><Relationship Id="rId10" Type="http://schemas.openxmlformats.org/officeDocument/2006/relationships/tags" Target="../tags/tag271.xm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cxnSp>
        <p:nvCxnSpPr>
          <p:cNvPr id="7" name="直接连接符 9"/>
          <p:cNvCxnSpPr/>
          <p:nvPr userDrawn="1"/>
        </p:nvCxn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E:\学校\2012110922144630394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845" y="434104"/>
            <a:ext cx="989166" cy="98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cxnSp>
        <p:nvCxnSpPr>
          <p:cNvPr id="7" name="直接连接符 9"/>
          <p:cNvCxnSpPr/>
          <p:nvPr userDrawn="1"/>
        </p:nvCxn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E:\学校\2012110922144630394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845" y="434104"/>
            <a:ext cx="989166" cy="98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" y="2262"/>
            <a:ext cx="12186096" cy="6853476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 hasCustomPrompt="1"/>
            <p:custDataLst>
              <p:tags r:id="rId7"/>
            </p:custDataLst>
          </p:nvPr>
        </p:nvSpPr>
        <p:spPr>
          <a:xfrm>
            <a:off x="6592254" y="4318318"/>
            <a:ext cx="1910715" cy="408940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 hasCustomPrompt="1"/>
            <p:custDataLst>
              <p:tags r:id="rId8"/>
            </p:custDataLst>
          </p:nvPr>
        </p:nvSpPr>
        <p:spPr>
          <a:xfrm>
            <a:off x="6592254" y="4793297"/>
            <a:ext cx="1910715" cy="408940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9"/>
            </p:custDataLst>
          </p:nvPr>
        </p:nvSpPr>
        <p:spPr>
          <a:xfrm>
            <a:off x="6615749" y="2392364"/>
            <a:ext cx="4825365" cy="1109345"/>
          </a:xfrm>
        </p:spPr>
        <p:txBody>
          <a:bodyPr vert="horz" wrap="square" lIns="0" tIns="0" rIns="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6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10"/>
            </p:custDataLst>
          </p:nvPr>
        </p:nvSpPr>
        <p:spPr>
          <a:xfrm>
            <a:off x="6615748" y="3567748"/>
            <a:ext cx="4826000" cy="37020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>
            <p:custDataLst>
              <p:tags r:id="rId11"/>
            </p:custDataLst>
          </p:nvPr>
        </p:nvCxnSpPr>
        <p:spPr>
          <a:xfrm>
            <a:off x="6592253" y="4122738"/>
            <a:ext cx="47650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4064000" y="0"/>
            <a:ext cx="4064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3629978" y="2610167"/>
            <a:ext cx="4932045" cy="163766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Font typeface="Arial" panose="020B0604020202020204" pitchFamily="34" charset="0"/>
              <a:buNone/>
              <a:defRPr sz="8000" b="0" spc="8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7498080" y="2194560"/>
            <a:ext cx="4389120" cy="2468880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0" y="6202718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0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6604000" y="3537268"/>
            <a:ext cx="4826000" cy="1111250"/>
          </a:xfr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l" rtl="0" eaLnBrk="1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None/>
              <a:defRPr sz="18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18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9"/>
            </p:custDataLst>
          </p:nvPr>
        </p:nvSpPr>
        <p:spPr>
          <a:xfrm>
            <a:off x="6604000" y="2145983"/>
            <a:ext cx="4825365" cy="1351915"/>
          </a:xfrm>
        </p:spPr>
        <p:txBody>
          <a:bodyPr vert="horz" wrap="square" lIns="0" tIns="0" rIns="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spc="7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0"/>
            <a:ext cx="10852237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6202718"/>
            <a:ext cx="720090" cy="65528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6202718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0571797" y="5383616"/>
            <a:ext cx="1620202" cy="147438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5383616"/>
            <a:ext cx="1620202" cy="14743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" y="2262"/>
            <a:ext cx="12186096" cy="6853476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 hasCustomPrompt="1"/>
            <p:custDataLst>
              <p:tags r:id="rId7"/>
            </p:custDataLst>
          </p:nvPr>
        </p:nvSpPr>
        <p:spPr>
          <a:xfrm>
            <a:off x="6592254" y="4318318"/>
            <a:ext cx="1910715" cy="408940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 hasCustomPrompt="1"/>
            <p:custDataLst>
              <p:tags r:id="rId8"/>
            </p:custDataLst>
          </p:nvPr>
        </p:nvSpPr>
        <p:spPr>
          <a:xfrm>
            <a:off x="6592254" y="4793297"/>
            <a:ext cx="1910715" cy="408940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9"/>
            </p:custDataLst>
          </p:nvPr>
        </p:nvSpPr>
        <p:spPr>
          <a:xfrm>
            <a:off x="6615749" y="2392364"/>
            <a:ext cx="4825365" cy="1109345"/>
          </a:xfrm>
        </p:spPr>
        <p:txBody>
          <a:bodyPr vert="horz" wrap="square" lIns="0" tIns="0" rIns="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6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10"/>
            </p:custDataLst>
          </p:nvPr>
        </p:nvSpPr>
        <p:spPr>
          <a:xfrm>
            <a:off x="6615748" y="3567748"/>
            <a:ext cx="4826000" cy="37020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>
            <p:custDataLst>
              <p:tags r:id="rId11"/>
            </p:custDataLst>
          </p:nvPr>
        </p:nvCxnSpPr>
        <p:spPr>
          <a:xfrm>
            <a:off x="6592253" y="4122738"/>
            <a:ext cx="47650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4064000" y="0"/>
            <a:ext cx="4064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3629978" y="2610167"/>
            <a:ext cx="4932045" cy="163766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Font typeface="Arial" panose="020B0604020202020204" pitchFamily="34" charset="0"/>
              <a:buNone/>
              <a:defRPr sz="8000" b="0" spc="8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7498080" y="2194560"/>
            <a:ext cx="4389120" cy="2468880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0" y="6202718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0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6604000" y="3537268"/>
            <a:ext cx="4826000" cy="1111250"/>
          </a:xfr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l" rtl="0" eaLnBrk="1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None/>
              <a:defRPr sz="18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18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9"/>
            </p:custDataLst>
          </p:nvPr>
        </p:nvSpPr>
        <p:spPr>
          <a:xfrm>
            <a:off x="6604000" y="2145983"/>
            <a:ext cx="4825365" cy="1351915"/>
          </a:xfrm>
        </p:spPr>
        <p:txBody>
          <a:bodyPr vert="horz" wrap="square" lIns="0" tIns="0" rIns="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spc="7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0"/>
            <a:ext cx="10852237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6202718"/>
            <a:ext cx="720090" cy="65528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6202718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0571797" y="5383616"/>
            <a:ext cx="1620202" cy="147438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5383616"/>
            <a:ext cx="1620202" cy="14743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5" Type="http://schemas.openxmlformats.org/officeDocument/2006/relationships/theme" Target="../theme/theme3.xml"/><Relationship Id="rId24" Type="http://schemas.openxmlformats.org/officeDocument/2006/relationships/tags" Target="../tags/tag140.xml"/><Relationship Id="rId23" Type="http://schemas.openxmlformats.org/officeDocument/2006/relationships/tags" Target="../tags/tag139.xml"/><Relationship Id="rId22" Type="http://schemas.openxmlformats.org/officeDocument/2006/relationships/tags" Target="../tags/tag138.xml"/><Relationship Id="rId21" Type="http://schemas.openxmlformats.org/officeDocument/2006/relationships/tags" Target="../tags/tag137.xml"/><Relationship Id="rId20" Type="http://schemas.openxmlformats.org/officeDocument/2006/relationships/tags" Target="../tags/tag136.xml"/><Relationship Id="rId2" Type="http://schemas.openxmlformats.org/officeDocument/2006/relationships/slideLayout" Target="../slideLayouts/slideLayout6.xml"/><Relationship Id="rId19" Type="http://schemas.openxmlformats.org/officeDocument/2006/relationships/tags" Target="../tags/tag135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5" Type="http://schemas.openxmlformats.org/officeDocument/2006/relationships/theme" Target="../theme/theme4.xml"/><Relationship Id="rId24" Type="http://schemas.openxmlformats.org/officeDocument/2006/relationships/tags" Target="../tags/tag280.xml"/><Relationship Id="rId23" Type="http://schemas.openxmlformats.org/officeDocument/2006/relationships/tags" Target="../tags/tag279.xml"/><Relationship Id="rId22" Type="http://schemas.openxmlformats.org/officeDocument/2006/relationships/tags" Target="../tags/tag278.xml"/><Relationship Id="rId21" Type="http://schemas.openxmlformats.org/officeDocument/2006/relationships/tags" Target="../tags/tag277.xml"/><Relationship Id="rId20" Type="http://schemas.openxmlformats.org/officeDocument/2006/relationships/tags" Target="../tags/tag276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275.xml"/><Relationship Id="rId18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openxmlformats.org/officeDocument/2006/relationships/tags" Target="../tags/tag284.xml"/><Relationship Id="rId4" Type="http://schemas.openxmlformats.org/officeDocument/2006/relationships/image" Target="../media/image11.png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tags" Target="../tags/tag28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5.png"/><Relationship Id="rId4" Type="http://schemas.openxmlformats.org/officeDocument/2006/relationships/tags" Target="../tags/tag286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290.xml"/><Relationship Id="rId10" Type="http://schemas.openxmlformats.org/officeDocument/2006/relationships/image" Target="../media/image12.png"/><Relationship Id="rId1" Type="http://schemas.openxmlformats.org/officeDocument/2006/relationships/tags" Target="../tags/tag28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tags" Target="../tags/tag294.xml"/><Relationship Id="rId7" Type="http://schemas.openxmlformats.org/officeDocument/2006/relationships/tags" Target="../tags/tag293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5.png"/><Relationship Id="rId4" Type="http://schemas.openxmlformats.org/officeDocument/2006/relationships/tags" Target="../tags/tag292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298.xml"/><Relationship Id="rId12" Type="http://schemas.openxmlformats.org/officeDocument/2006/relationships/image" Target="../media/image12.png"/><Relationship Id="rId11" Type="http://schemas.openxmlformats.org/officeDocument/2006/relationships/tags" Target="../tags/tag297.xml"/><Relationship Id="rId10" Type="http://schemas.openxmlformats.org/officeDocument/2006/relationships/tags" Target="../tags/tag296.xml"/><Relationship Id="rId1" Type="http://schemas.openxmlformats.org/officeDocument/2006/relationships/tags" Target="../tags/tag29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302.xml"/><Relationship Id="rId7" Type="http://schemas.openxmlformats.org/officeDocument/2006/relationships/tags" Target="../tags/tag301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5.png"/><Relationship Id="rId4" Type="http://schemas.openxmlformats.org/officeDocument/2006/relationships/tags" Target="../tags/tag300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304.xml"/><Relationship Id="rId10" Type="http://schemas.openxmlformats.org/officeDocument/2006/relationships/tags" Target="../tags/tag303.xml"/><Relationship Id="rId1" Type="http://schemas.openxmlformats.org/officeDocument/2006/relationships/tags" Target="../tags/tag29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308.xml"/><Relationship Id="rId7" Type="http://schemas.openxmlformats.org/officeDocument/2006/relationships/tags" Target="../tags/tag307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5.png"/><Relationship Id="rId4" Type="http://schemas.openxmlformats.org/officeDocument/2006/relationships/tags" Target="../tags/tag306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309.xml"/><Relationship Id="rId10" Type="http://schemas.openxmlformats.org/officeDocument/2006/relationships/image" Target="../media/image13.png"/><Relationship Id="rId1" Type="http://schemas.openxmlformats.org/officeDocument/2006/relationships/tags" Target="../tags/tag30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3.xml"/><Relationship Id="rId4" Type="http://schemas.openxmlformats.org/officeDocument/2006/relationships/tags" Target="../tags/tag312.xml"/><Relationship Id="rId3" Type="http://schemas.openxmlformats.org/officeDocument/2006/relationships/image" Target="../media/image12.png"/><Relationship Id="rId2" Type="http://schemas.openxmlformats.org/officeDocument/2006/relationships/tags" Target="../tags/tag311.xml"/><Relationship Id="rId1" Type="http://schemas.openxmlformats.org/officeDocument/2006/relationships/tags" Target="../tags/tag3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5"/>
          <p:cNvSpPr txBox="1"/>
          <p:nvPr>
            <p:custDataLst>
              <p:tags r:id="rId1"/>
            </p:custDataLst>
          </p:nvPr>
        </p:nvSpPr>
        <p:spPr>
          <a:xfrm>
            <a:off x="6684646" y="1839279"/>
            <a:ext cx="1725930" cy="736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en-US" altLang="zh-CN" sz="4400" b="1" spc="200" dirty="0">
              <a:solidFill>
                <a:schemeClr val="accent1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  <p:custDataLst>
              <p:tags r:id="rId2"/>
            </p:custDataLst>
          </p:nvPr>
        </p:nvSpPr>
        <p:spPr>
          <a:xfrm>
            <a:off x="6096000" y="4318635"/>
            <a:ext cx="5041265" cy="1336040"/>
          </a:xfrm>
        </p:spPr>
        <p:txBody>
          <a:bodyPr>
            <a:noAutofit/>
          </a:bodyPr>
          <a:lstStyle/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800">
                <a:solidFill>
                  <a:schemeClr val="dk1"/>
                </a:solidFill>
              </a:rPr>
              <a:t>助教：林一熙、江婷</a:t>
            </a:r>
            <a:endParaRPr lang="zh-CN" altLang="en-US" sz="1800">
              <a:solidFill>
                <a:schemeClr val="dk1"/>
              </a:solidFill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800">
                <a:solidFill>
                  <a:schemeClr val="dk1"/>
                </a:solidFill>
              </a:rPr>
              <a:t>组长：颜佳熙</a:t>
            </a:r>
            <a:endParaRPr lang="zh-CN" altLang="en-US" sz="1800">
              <a:solidFill>
                <a:schemeClr val="dk1"/>
              </a:solidFill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800">
                <a:solidFill>
                  <a:schemeClr val="dk1"/>
                </a:solidFill>
              </a:rPr>
              <a:t>组员：余飞、陈圻、周毅、周玮康、许梓希</a:t>
            </a:r>
            <a:endParaRPr lang="zh-CN" altLang="en-US" sz="1800">
              <a:solidFill>
                <a:schemeClr val="dk1"/>
              </a:solidFill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4"/>
            <p:custDataLst>
              <p:tags r:id="rId3"/>
            </p:custDataLst>
          </p:nvPr>
        </p:nvSpPr>
        <p:spPr>
          <a:xfrm>
            <a:off x="6096000" y="1952625"/>
            <a:ext cx="6001385" cy="1109345"/>
          </a:xfrm>
        </p:spPr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400" dirty="0">
                <a:solidFill>
                  <a:schemeClr val="accent1"/>
                </a:solidFill>
              </a:rPr>
              <a:t>中级实训项目总结：</a:t>
            </a:r>
            <a:r>
              <a:rPr lang="zh-CN" altLang="en-US" sz="5400" b="1" dirty="0">
                <a:solidFill>
                  <a:schemeClr val="accent1"/>
                </a:solidFill>
              </a:rPr>
              <a:t>嘉递</a:t>
            </a:r>
            <a:br>
              <a:rPr lang="zh-CN" altLang="en-US" sz="5400" b="1" dirty="0">
                <a:solidFill>
                  <a:schemeClr val="accent1"/>
                </a:solidFill>
              </a:rPr>
            </a:br>
            <a:r>
              <a:rPr lang="zh-CN" altLang="en-US" sz="5400" dirty="0">
                <a:solidFill>
                  <a:schemeClr val="accent1"/>
                </a:solidFill>
              </a:rPr>
              <a:t>中珠校园外卖平台</a:t>
            </a:r>
            <a:endParaRPr lang="zh-CN" altLang="en-US" sz="5400" dirty="0">
              <a:solidFill>
                <a:schemeClr val="accent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l="2216"/>
          <a:stretch>
            <a:fillRect/>
          </a:stretch>
        </p:blipFill>
        <p:spPr>
          <a:xfrm>
            <a:off x="1479550" y="694690"/>
            <a:ext cx="3623945" cy="1400810"/>
          </a:xfrm>
          <a:prstGeom prst="rect">
            <a:avLst/>
          </a:prstGeom>
          <a:ln>
            <a:noFill/>
          </a:ln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" name="图片 11"/>
          <p:cNvPicPr/>
          <p:nvPr userDrawn="1">
            <p:custDataLst>
              <p:tags r:id="rId1"/>
            </p:custDataLst>
          </p:nvPr>
        </p:nvPicPr>
        <p:blipFill>
          <a:blip r:embed="rId2" r:link="rId3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4"/>
            </p:custDataLst>
          </p:nvPr>
        </p:nvPicPr>
        <p:blipFill>
          <a:blip r:embed="rId5" r:link="rId6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8" name="内容占位符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846320" y="702310"/>
            <a:ext cx="7345045" cy="615632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余飞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Redis 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缓存加速：</a:t>
            </a: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L1-L4 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四级缓存</a:t>
            </a: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分布式锁</a:t>
            </a: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限流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周毅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四层记忆系统：短期、长期、梦境记忆与用户画像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周玮康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RabbitMQ 异步消息队列，生产者/消费者/LLM Worker 异步任务处理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许梓希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FastAPI 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后端路由、</a:t>
            </a: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SSE 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流式通信</a:t>
            </a: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REST API</a:t>
            </a:r>
            <a:endParaRPr lang="en-US" altLang="zh-CN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93394" y="57784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5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项目分工</a:t>
            </a:r>
            <a:endParaRPr lang="zh-CN" altLang="en-US" sz="5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27025" y="933450"/>
            <a:ext cx="4724400" cy="57404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颜佳熙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、核心 Agent 框架 + 业务工具集成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、ReAct 推理循环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、LLM 集成 + 类型系统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、工具系统（注册/执行/下单/支付）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、技能框架 + Delivery Skill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6、任务规划器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陈圻</a:t>
            </a: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整个用户对话界面的前端界面的设计。</a:t>
            </a:r>
            <a:endParaRPr lang="zh-CN" altLang="en-US" sz="16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2365" y="0"/>
            <a:ext cx="1463675" cy="114998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/>
          <p:nvPr userDrawn="1">
            <p:custDataLst>
              <p:tags r:id="rId1"/>
            </p:custDataLst>
          </p:nvPr>
        </p:nvPicPr>
        <p:blipFill>
          <a:blip r:embed="rId2" r:link="rId3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17" name="图片 16"/>
          <p:cNvPicPr/>
          <p:nvPr userDrawn="1">
            <p:custDataLst>
              <p:tags r:id="rId4"/>
            </p:custDataLst>
          </p:nvPr>
        </p:nvPicPr>
        <p:blipFill>
          <a:blip r:embed="rId5" r:link="rId6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15" name="内容占位符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50764" y="2604082"/>
            <a:ext cx="11709857" cy="865812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50764" y="3952723"/>
            <a:ext cx="11709857" cy="2266773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28014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sz="5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项目介绍</a:t>
            </a:r>
            <a:endParaRPr kumimoji="1" lang="zh-CN" altLang="en-US" sz="5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内容占位符 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46708" y="1072977"/>
            <a:ext cx="11199741" cy="52197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42900" y="1558290"/>
            <a:ext cx="11478260" cy="136842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32365" y="0"/>
            <a:ext cx="1463675" cy="11499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6760" y="1835150"/>
            <a:ext cx="971994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原来的外卖网站是一个传统的</a:t>
            </a:r>
            <a:r>
              <a:rPr lang="en-US" altLang="zh-CN"/>
              <a:t> </a:t>
            </a:r>
            <a:r>
              <a:rPr lang="zh-CN" altLang="en-US"/>
              <a:t>「前后端分离</a:t>
            </a:r>
            <a:r>
              <a:rPr lang="en-US" altLang="zh-CN"/>
              <a:t> + CRUD</a:t>
            </a:r>
            <a:r>
              <a:rPr lang="zh-CN" altLang="en-US"/>
              <a:t>」</a:t>
            </a:r>
            <a:r>
              <a:rPr lang="en-US" altLang="zh-CN"/>
              <a:t> </a:t>
            </a:r>
            <a:r>
              <a:rPr lang="zh-CN" altLang="en-US"/>
              <a:t>系统</a:t>
            </a:r>
            <a:r>
              <a:rPr lang="en-US" altLang="zh-CN"/>
              <a:t>——Vue3 </a:t>
            </a:r>
            <a:r>
              <a:rPr lang="zh-CN" altLang="en-US"/>
              <a:t>前端</a:t>
            </a:r>
            <a:r>
              <a:rPr lang="en-US" altLang="zh-CN"/>
              <a:t> + Go </a:t>
            </a:r>
            <a:r>
              <a:rPr lang="zh-CN" altLang="en-US"/>
              <a:t>后端</a:t>
            </a:r>
            <a:r>
              <a:rPr lang="en-US" altLang="zh-CN"/>
              <a:t> + MySQL</a:t>
            </a:r>
            <a:r>
              <a:rPr lang="zh-CN" altLang="en-US"/>
              <a:t>，用户需要手动浏览菜单、选菜、填地址、下单，每一步都要点很多次。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痛点很明确：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操作路径长</a:t>
            </a:r>
            <a:r>
              <a:rPr lang="en-US" altLang="zh-CN"/>
              <a:t> — </a:t>
            </a:r>
            <a:r>
              <a:rPr lang="zh-CN" altLang="en-US"/>
              <a:t>打开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搜商家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看菜单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选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填地址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支付，流程固定但步骤多</a:t>
            </a:r>
            <a:endParaRPr lang="zh-CN" altLang="en-US"/>
          </a:p>
          <a:p>
            <a:r>
              <a:rPr lang="zh-CN" altLang="en-US"/>
              <a:t>没有智能</a:t>
            </a:r>
            <a:r>
              <a:rPr lang="en-US" altLang="zh-CN"/>
              <a:t> — </a:t>
            </a:r>
            <a:r>
              <a:rPr lang="zh-CN" altLang="en-US"/>
              <a:t>系统没有记忆，每单都要重新选，不会推荐，不会主动服务</a:t>
            </a:r>
            <a:endParaRPr lang="zh-CN" altLang="en-US"/>
          </a:p>
          <a:p>
            <a:r>
              <a:rPr lang="zh-CN" altLang="en-US"/>
              <a:t>客服成本高</a:t>
            </a:r>
            <a:r>
              <a:rPr lang="en-US" altLang="zh-CN"/>
              <a:t> — </a:t>
            </a:r>
            <a:r>
              <a:rPr lang="zh-CN" altLang="en-US"/>
              <a:t>查订单这类高频问题，要么自己翻，要么找人工</a:t>
            </a:r>
            <a:endParaRPr lang="zh-CN" altLang="en-US"/>
          </a:p>
          <a:p>
            <a:r>
              <a:rPr lang="zh-CN" altLang="en-US"/>
              <a:t>所以引入</a:t>
            </a:r>
            <a:r>
              <a:rPr lang="en-US" altLang="zh-CN"/>
              <a:t> AI Agent </a:t>
            </a:r>
            <a:r>
              <a:rPr lang="zh-CN" altLang="en-US"/>
              <a:t>的本质是：把「人适应机器」变成「机器适应人」。用户只需要说一句话，</a:t>
            </a:r>
            <a:r>
              <a:rPr lang="en-US" altLang="zh-CN"/>
              <a:t>Agent </a:t>
            </a:r>
            <a:r>
              <a:rPr lang="zh-CN" altLang="en-US"/>
              <a:t>自动完成意图理解、信息检索、决策执行的全流程。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图片 12"/>
          <p:cNvPicPr/>
          <p:nvPr userDrawn="1">
            <p:custDataLst>
              <p:tags r:id="rId1"/>
            </p:custDataLst>
          </p:nvPr>
        </p:nvPicPr>
        <p:blipFill>
          <a:blip r:embed="rId2" r:link="rId3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4"/>
            </p:custDataLst>
          </p:nvPr>
        </p:nvPicPr>
        <p:blipFill>
          <a:blip r:embed="rId5" r:link="rId6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57224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5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项目功能介绍</a:t>
            </a:r>
            <a:endParaRPr lang="zh-CN" altLang="en-US" sz="5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46709" y="1227772"/>
            <a:ext cx="11199741" cy="521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2365" y="0"/>
            <a:ext cx="1463675" cy="11499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02385" y="1501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10"/>
            </p:custDataLst>
          </p:nvPr>
        </p:nvGraphicFramePr>
        <p:xfrm>
          <a:off x="853440" y="1367790"/>
          <a:ext cx="10163175" cy="3691890"/>
        </p:xfrm>
        <a:graphic>
          <a:graphicData uri="http://schemas.openxmlformats.org/drawingml/2006/table">
            <a:tbl>
              <a:tblPr/>
              <a:tblGrid>
                <a:gridCol w="3387725"/>
                <a:gridCol w="3387725"/>
                <a:gridCol w="3387725"/>
              </a:tblGrid>
              <a:tr h="615315">
                <a:tc>
                  <a:txBody>
                    <a:bodyPr/>
                    <a:p>
                      <a:r>
                        <a:rPr lang="zh-CN" altLang="en-US" sz="1800" b="0" i="0"/>
                        <a:t>功能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用户说一句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Agent 做了什么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5315">
                <a:tc>
                  <a:txBody>
                    <a:bodyPr/>
                    <a:p>
                      <a:r>
                        <a:rPr lang="zh-CN" altLang="en-US" sz="1800" b="0" i="0"/>
                        <a:t>智能点餐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"帮我点一份黄焖鸡米饭送到宿舍"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搜商家→查菜单→填地址→下单→引导支付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5315">
                <a:tc>
                  <a:txBody>
                    <a:bodyPr/>
                    <a:p>
                      <a:r>
                        <a:rPr lang="zh-CN" altLang="en-US" sz="1800" b="0" i="0"/>
                        <a:t>订单管理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"我的外卖到哪了"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查订单状态→调配送接口→返回物流信息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5315">
                <a:tc>
                  <a:txBody>
                    <a:bodyPr/>
                    <a:p>
                      <a:r>
                        <a:rPr lang="zh-CN" altLang="en-US" sz="1800" b="0" i="0"/>
                        <a:t>智能推荐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"今天吃什么好"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读历史订单→分析偏好→推荐菜品+理由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5315">
                <a:tc>
                  <a:txBody>
                    <a:bodyPr/>
                    <a:p>
                      <a:r>
                        <a:rPr lang="zh-CN" altLang="en-US" sz="1800" b="0" i="0"/>
                        <a:t>售后客服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"我有个订单想取消"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查订单→判断是否可取消→执行取消→退款处理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5315">
                <a:tc>
                  <a:txBody>
                    <a:bodyPr/>
                    <a:p>
                      <a:r>
                        <a:rPr lang="zh-CN" altLang="en-US" sz="1800" b="0" i="0"/>
                        <a:t>上下文记忆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下次说"老样子"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/>
                        <a:t>从记忆系统调出历史偏好和地址，自动填充</a:t>
                      </a:r>
                      <a:endParaRPr lang="zh-CN" altLang="en-US" sz="1800" b="0" i="0"/>
                    </a:p>
                  </a:txBody>
                  <a:tcPr marL="19367" marR="19367" marT="19367" marB="19367" anchor="ctr" anchorCtr="0">
                    <a:lnL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B2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图片 12"/>
          <p:cNvPicPr/>
          <p:nvPr userDrawn="1">
            <p:custDataLst>
              <p:tags r:id="rId1"/>
            </p:custDataLst>
          </p:nvPr>
        </p:nvPicPr>
        <p:blipFill>
          <a:blip r:embed="rId2" r:link="rId3" cstate="email"/>
          <a:stretch>
            <a:fillRect/>
          </a:stretch>
        </p:blipFill>
        <p:spPr>
          <a:xfrm>
            <a:off x="0" y="0"/>
            <a:ext cx="720090" cy="655282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4"/>
            </p:custDataLst>
          </p:nvPr>
        </p:nvPicPr>
        <p:blipFill>
          <a:blip r:embed="rId5" r:link="rId6" cstate="email"/>
          <a:stretch>
            <a:fillRect/>
          </a:stretch>
        </p:blipFill>
        <p:spPr>
          <a:xfrm>
            <a:off x="11471910" y="0"/>
            <a:ext cx="720090" cy="655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0545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5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项目功能介绍</a:t>
            </a:r>
            <a:endParaRPr lang="zh-CN" altLang="en-US" sz="5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46709" y="1227772"/>
            <a:ext cx="11199741" cy="521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业务流程图</a:t>
            </a:r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2365" y="0"/>
            <a:ext cx="1463675" cy="1149985"/>
          </a:xfrm>
          <a:prstGeom prst="rect">
            <a:avLst/>
          </a:prstGeom>
        </p:spPr>
      </p:pic>
      <p:pic>
        <p:nvPicPr>
          <p:cNvPr id="7" name="图片 6" descr="aa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545" y="2164080"/>
            <a:ext cx="11853545" cy="317690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721215" y="5977255"/>
            <a:ext cx="2531745" cy="111125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None/>
              <a:defRPr sz="18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>
                <a:solidFill>
                  <a:schemeClr val="dk1"/>
                </a:solidFill>
              </a:rPr>
              <a:t>2026.1.9</a:t>
            </a:r>
            <a:endParaRPr lang="en-US" altLang="zh-CN" sz="2000">
              <a:solidFill>
                <a:schemeClr val="dk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560820" y="2939733"/>
            <a:ext cx="4825365" cy="135191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u="none" strike="noStrike" kern="1200" cap="none" spc="700" normalizeH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6600" dirty="0">
                <a:solidFill>
                  <a:schemeClr val="accent1"/>
                </a:solidFill>
              </a:rPr>
              <a:t>THANKS</a:t>
            </a:r>
            <a:endParaRPr lang="en-US" altLang="zh-CN" sz="6600" dirty="0">
              <a:solidFill>
                <a:schemeClr val="accent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l="2686"/>
          <a:stretch>
            <a:fillRect/>
          </a:stretch>
        </p:blipFill>
        <p:spPr>
          <a:xfrm>
            <a:off x="6922770" y="75565"/>
            <a:ext cx="3312795" cy="26746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D" val="_1*y*1"/>
  <p:tag name="KSO_WM_UNIT_TYPE" val="y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2.xml><?xml version="1.0" encoding="utf-8"?>
<p:tagLst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4374"/>
</p:tagLst>
</file>

<file path=ppt/tags/tag13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4374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374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6、8、11、12、16、17、19、20、21、22、23、24、29、30、32、35、36、37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D" val="_1*y*1"/>
  <p:tag name="KSO_WM_UNIT_TYPE" val="y"/>
  <p:tag name="KSO_WM_UNIT_INDEX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2.xml><?xml version="1.0" encoding="utf-8"?>
<p:tagLst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0.xml><?xml version="1.0" encoding="utf-8"?>
<p:tagLst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8.xml><?xml version="1.0" encoding="utf-8"?>
<p:tagLst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7.xml><?xml version="1.0" encoding="utf-8"?>
<p:tagLst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6.xml><?xml version="1.0" encoding="utf-8"?>
<p:tagLst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7.xml><?xml version="1.0" encoding="utf-8"?>
<p:tagLst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4374"/>
</p:tagLst>
</file>

<file path=ppt/tags/tag27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4374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374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6、8、11、12、16、17、19、20、21、22、23、24、29、30、32、35、36、37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74"/>
  <p:tag name="KSO_WM_UNIT_ID" val="custom20204374_1*i*1"/>
  <p:tag name="KSO_WM_UNIT_TYPE" val="i"/>
  <p:tag name="KSO_WM_UNIT_INDEX" val="1"/>
  <p:tag name="KSO_WM_UNIT_TEXT_FILL_FORE_SCHEMECOLOR_INDEX_BRIGHTNESS" val="0"/>
  <p:tag name="KSO_WM_UNIT_TEXT_FILL_FORE_SCHEMECOLOR_INDEX" val="5"/>
  <p:tag name="KSO_WM_UNIT_TEXT_FILL_TYPE" val="1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INDEX" val="1"/>
  <p:tag name="KSO_WM_UNIT_TYPE" val="f"/>
  <p:tag name="KSO_WM_TEMPLATE_CATEGORY" val="custom"/>
  <p:tag name="KSO_WM_TEMPLATE_INDEX" val="20204374"/>
  <p:tag name="KSO_WM_UNIT_ID" val="custom20204374_1*f*1"/>
  <p:tag name="KSO_WM_UNIT_PRESET_TEXT" val="汇报人姓名"/>
  <p:tag name="KSO_WM_UNIT_SUBTYPE" val="b"/>
  <p:tag name="KSO_WM_UNIT_VALUE" val="8"/>
  <p:tag name="KSO_WM_UNIT_TEXT_FILL_FORE_SCHEMECOLOR_INDEX_BRIGHTNESS" val="0"/>
  <p:tag name="KSO_WM_UNIT_TEXT_FILL_FORE_SCHEMECOLOR_INDEX" val="13"/>
  <p:tag name="KSO_WM_UNIT_TEXT_FILL_TYPE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0"/>
  <p:tag name="KSO_WM_UNIT_TYPE" val="a"/>
  <p:tag name="KSO_WM_UNIT_INDEX" val="1"/>
  <p:tag name="KSO_WM_TEMPLATE_CATEGORY" val="custom"/>
  <p:tag name="KSO_WM_TEMPLATE_INDEX" val="20204374"/>
  <p:tag name="KSO_WM_UNIT_ID" val="custom20204374_1*a*1"/>
  <p:tag name="KSO_WM_UNIT_PRESET_TEXT" val="绿色简约总结"/>
  <p:tag name="KSO_WM_UNIT_ISNUMDGMTITLE" val="0"/>
  <p:tag name="KSO_WM_UNIT_TEXT_FILL_FORE_SCHEMECOLOR_INDEX_BRIGHTNESS" val="0"/>
  <p:tag name="KSO_WM_UNIT_TEXT_FILL_FORE_SCHEMECOLOR_INDEX" val="13"/>
  <p:tag name="KSO_WM_UNIT_TEXT_FILL_TYPE" val="1"/>
</p:tagLst>
</file>

<file path=ppt/tags/tag284.xml><?xml version="1.0" encoding="utf-8"?>
<p:tagLst xmlns:p="http://schemas.openxmlformats.org/presentationml/2006/main">
  <p:tag name="KSO_WM_SLIDE_ID" val="custom20204374_1"/>
  <p:tag name="KSO_WM_TEMPLATE_SUBCATEGORY" val="0"/>
  <p:tag name="KSO_WM_TEMPLATE_MASTER_TYPE" val="1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4374"/>
  <p:tag name="KSO_WM_SLIDE_LAYOUT" val="a_b_f"/>
  <p:tag name="KSO_WM_SLIDE_LAYOUT_CNT" val="1_1_2"/>
  <p:tag name="KSO_WM_SLIDE_TYPE" val="title"/>
  <p:tag name="KSO_WM_SLIDE_SUBTYPE" val="pureTxt"/>
  <p:tag name="KSO_WM_TEMPLATE_THUMBS_INDEX" val="1、4、6、7、8、11、12、16、17、19、22、23、24、32、39"/>
  <p:tag name="KSO_WM_TEMPLATE_MASTER_THUMB_INDEX" val="12"/>
</p:tagLst>
</file>

<file path=ppt/tags/tag2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0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9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9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8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9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0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3.xml><?xml version="1.0" encoding="utf-8"?>
<p:tagLst xmlns:p="http://schemas.openxmlformats.org/presentationml/2006/main">
  <p:tag name="TABLE_ENDDRAG_ORIGIN_RECT" val="800*278"/>
  <p:tag name="TABLE_ENDDRAG_RECT" val="67*107*800*278"/>
</p:tagLst>
</file>

<file path=ppt/tags/tag304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0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9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310.xml><?xml version="1.0" encoding="utf-8"?>
<p:tagLst xmlns:p="http://schemas.openxmlformats.org/presentationml/2006/main"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374"/>
  <p:tag name="KSO_WM_UNIT_ID" val="custom20204374_34*b*1"/>
  <p:tag name="KSO_WM_UNIT_PRESET_TEXT" val="单击此处添加正文，文字是您思想的提炼，请尽量言简意赅的阐述观点。"/>
  <p:tag name="KSO_WM_UNIT_ISNUMDGMTITLE" val="0"/>
  <p:tag name="KSO_WM_UNIT_TEXT_FILL_FORE_SCHEMECOLOR_INDEX_BRIGHTNESS" val="0"/>
  <p:tag name="KSO_WM_UNIT_TEXT_FILL_FORE_SCHEMECOLOR_INDEX" val="13"/>
  <p:tag name="KSO_WM_UNIT_TEXT_FILL_TYPE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10"/>
  <p:tag name="KSO_WM_UNIT_TYPE" val="a"/>
  <p:tag name="KSO_WM_UNIT_INDEX" val="1"/>
  <p:tag name="KSO_WM_TEMPLATE_CATEGORY" val="custom"/>
  <p:tag name="KSO_WM_TEMPLATE_INDEX" val="20204374"/>
  <p:tag name="KSO_WM_UNIT_ID" val="custom20204374_34*a*1"/>
  <p:tag name="KSO_WM_UNIT_PRESET_TEXT" val="谢谢聆听"/>
  <p:tag name="KSO_WM_UNIT_ISNUMDGMTITLE" val="0"/>
  <p:tag name="KSO_WM_UNIT_TEXT_FILL_FORE_SCHEMECOLOR_INDEX_BRIGHTNESS" val="0"/>
  <p:tag name="KSO_WM_UNIT_TEXT_FILL_FORE_SCHEMECOLOR_INDEX" val="13"/>
  <p:tag name="KSO_WM_UNIT_TEXT_FILL_TYPE" val="1"/>
</p:tagLst>
</file>

<file path=ppt/tags/tag312.xml><?xml version="1.0" encoding="utf-8"?>
<p:tagLst xmlns:p="http://schemas.openxmlformats.org/presentationml/2006/main">
  <p:tag name="KSO_WM_BEAUTIFY_FLAG" val="#wm#"/>
  <p:tag name="KSO_WM_TEMPLATE_SUBCATEGORY" val="0"/>
  <p:tag name="KSO_WM_SLIDE_TYPE" val="endPage"/>
  <p:tag name="KSO_WM_SLIDE_SUBTYPE" val="pureTxt"/>
  <p:tag name="KSO_WM_SLIDE_ITEM_CNT" val="0"/>
  <p:tag name="KSO_WM_SLIDE_INDEX" val="39"/>
  <p:tag name="KSO_WM_TAG_VERSION" val="1.0"/>
  <p:tag name="KSO_WM_SLIDE_LAYOUT" val="a_b"/>
  <p:tag name="KSO_WM_SLIDE_LAYOUT_CNT" val="1_1"/>
  <p:tag name="KSO_WM_TEMPLATE_MASTER_TYPE" val="1"/>
  <p:tag name="KSO_WM_TEMPLATE_COLOR_TYPE" val="1"/>
  <p:tag name="KSO_WM_TEMPLATE_CATEGORY" val="custom"/>
  <p:tag name="KSO_WM_TEMPLATE_INDEX" val="20204374"/>
  <p:tag name="KSO_WM_SLIDE_ID" val="custom20204374_34"/>
</p:tagLst>
</file>

<file path=ppt/tags/tag313.xml><?xml version="1.0" encoding="utf-8"?>
<p:tagLst xmlns:p="http://schemas.openxmlformats.org/presentationml/2006/main">
  <p:tag name="KSO_WPP_MARK_KEY" val="3cf936e1-1da8-45a3-84fa-62c6d6963dd7"/>
  <p:tag name="COMMONDATA" val="eyJoZGlkIjoiYWU5MGM2Nzc2ZWM5NDMyMjYzMTU2MjY0ZTlkNWRkMWEifQ=="/>
</p:tagLst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ECEFEE"/>
      </a:dk2>
      <a:lt2>
        <a:srgbClr val="FFFFFF"/>
      </a:lt2>
      <a:accent1>
        <a:srgbClr val="2C5040"/>
      </a:accent1>
      <a:accent2>
        <a:srgbClr val="305A66"/>
      </a:accent2>
      <a:accent3>
        <a:srgbClr val="33658C"/>
      </a:accent3>
      <a:accent4>
        <a:srgbClr val="446398"/>
      </a:accent4>
      <a:accent5>
        <a:srgbClr val="625489"/>
      </a:accent5>
      <a:accent6>
        <a:srgbClr val="80467B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ECEFEE"/>
      </a:dk2>
      <a:lt2>
        <a:srgbClr val="FFFFFF"/>
      </a:lt2>
      <a:accent1>
        <a:srgbClr val="2C5040"/>
      </a:accent1>
      <a:accent2>
        <a:srgbClr val="305A66"/>
      </a:accent2>
      <a:accent3>
        <a:srgbClr val="33658C"/>
      </a:accent3>
      <a:accent4>
        <a:srgbClr val="446398"/>
      </a:accent4>
      <a:accent5>
        <a:srgbClr val="625489"/>
      </a:accent5>
      <a:accent6>
        <a:srgbClr val="80467B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823</Words>
  <Application>WPS 演示</Application>
  <PresentationFormat>宽屏</PresentationFormat>
  <Paragraphs>88</Paragraphs>
  <Slides>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汉仪旗黑-85S</vt:lpstr>
      <vt:lpstr>黑体</vt:lpstr>
      <vt:lpstr>Wingdings</vt:lpstr>
      <vt:lpstr>Arial Unicode MS</vt:lpstr>
      <vt:lpstr>等线</vt:lpstr>
      <vt:lpstr>Calibri</vt:lpstr>
      <vt:lpstr>-apple-system</vt:lpstr>
      <vt:lpstr>monospace</vt:lpstr>
      <vt:lpstr>Championship</vt:lpstr>
      <vt:lpstr>2_自定义设计方案</vt:lpstr>
      <vt:lpstr>1_自定义设计方案</vt:lpstr>
      <vt:lpstr>4_Office 主题​​</vt:lpstr>
      <vt:lpstr>1_Office 主题​​</vt:lpstr>
      <vt:lpstr>中级实训项目总结：嘉递 中珠校园外卖平台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 沛霖</dc:creator>
  <cp:lastModifiedBy>17274</cp:lastModifiedBy>
  <cp:revision>944</cp:revision>
  <dcterms:created xsi:type="dcterms:W3CDTF">2021-05-08T02:43:00Z</dcterms:created>
  <dcterms:modified xsi:type="dcterms:W3CDTF">2026-07-06T17:05:17Z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4FB29395AD0F4F9D9A37E5477B4AB8FB_13</vt:lpwstr>
  </property>
  <property fmtid="{D5CDD505-2E9C-101B-9397-08002B2CF9AE}" pid="3" name="KSOProductBuildVer">
    <vt:lpwstr>2052-12.1.0.23542</vt:lpwstr>
  </property>
  <property fmtid="{D5CDD505-2E9C-101B-9397-08002B2CF9AE}" pid="4" name="commondata">
    <vt:lpwstr>eyJoZGlkIjoiMDRhNzU0OWJhYjA5ZmE3NjBhMmY3YjM2NGEwNjYzMzcifQ==</vt:lpwstr>
  </property>
</Properties>
</file>